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Haqnawaz/Quran/Programming/morphology_app/assets/icon/icon_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ALTASREEF AI TUTOR</a:t>
            </a:r>
            <a:endParaRPr lang="en-US" sz="4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71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F4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Grounded, Multilingual Explanations for Quranic Arabic Morphology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3749040"/>
            <a:ext cx="0" cy="0"/>
          </a:xfrm>
          <a:prstGeom prst="line">
            <a:avLst/>
          </a:prstGeom>
          <a:noFill/>
          <a:ln/>
        </p:spPr>
      </p:sp>
      <p:sp>
        <p:nvSpPr>
          <p:cNvPr id="6" name="Text 3"/>
          <p:cNvSpPr txBox="1"/>
          <p:nvPr/>
        </p:nvSpPr>
        <p:spPr>
          <a:xfrm>
            <a:off x="54864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615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Track 3 — Interactive Experiences &amp; Learning Journeys for Islam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4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Team Altasreef  ·  Final Submission  ·  Oct 4–6, 2026 build window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EF2C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Live demo: islamicaich-altasreef.netlify.app   •   Repo: github.com/haqnawaz99/islamicaich-altasreef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 Score Doesn't Teach Grammar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Every certification level scores a mistake — but nothing explains what the correct form is, or why.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576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A615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49 → 12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real wrong answers on one Quran word collapsed into just 12 repeating mistake patterns — not random noise.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06240" y="1965960"/>
            <a:ext cx="457200" cy="457200"/>
          </a:xfrm>
          <a:prstGeom prst="ellipse">
            <a:avLst/>
          </a:prstGeom>
          <a:solidFill>
            <a:srgbClr val="F2F4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06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9202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Feedback stops at “incorrect”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26771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 right/wrong marker alone gives a learner nowhere to go next.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06240" y="2971800"/>
            <a:ext cx="457200" cy="457200"/>
          </a:xfrm>
          <a:prstGeom prst="ellipse">
            <a:avLst/>
          </a:prstGeom>
          <a:solidFill>
            <a:srgbClr val="F2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062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926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Traditional terms are a barrier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27355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Learners outside the classical method (نحو، صرف، اعراب) can guess right without understanding why.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06240" y="3977640"/>
            <a:ext cx="457200" cy="457200"/>
          </a:xfrm>
          <a:prstGeom prst="ellipse">
            <a:avLst/>
          </a:prstGeom>
          <a:solidFill>
            <a:srgbClr val="F2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06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9319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Errors are structured, not random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427939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Exactly what a grounded, pre-authored explanation layer is built to serve.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Altasreef AI Tutor  —  Islamic AI Challenge 2026, Track 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Altasreef — Already Live, Not a Prototype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Disclosed per the challenge's own rules as pre-existing work, dated before Oct 4, 2026.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615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7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certification levels, scored against real Quranic verses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20116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83280" y="2286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615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4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interface languages — EN / AR / UR / FR, full RTL support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2286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615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11,000+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tagged Quran verb/noun rows, real occurrence data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20116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52560" y="2286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615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Live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on Google Play, in active use by real students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Only new work built during the Oct 4–6 window is submitted for judging.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Altasreef AI Tutor  —  Islamic AI Challenge 2026, Track 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Today, There Is No AI Layer At All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This challenge's Oct 4–6 window is exactly where the AI layer goes in — not a re-skin of an existing feature.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3375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548640" cy="548640"/>
          </a:xfrm>
          <a:prstGeom prst="ellipse">
            <a:avLst/>
          </a:prstGeom>
          <a:solidFill>
            <a:srgbClr val="F2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</a:t>
            </a:r>
            <a:endParaRPr lang="en-US" sz="168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Conjugation is rule-based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404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 deterministic engine generates verb forms — not learned, not AI.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60520" y="2103120"/>
            <a:ext cx="33375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2377440"/>
            <a:ext cx="548640" cy="548640"/>
          </a:xfrm>
          <a:prstGeom prst="ellipse">
            <a:avLst/>
          </a:prstGeom>
          <a:solidFill>
            <a:srgbClr val="F2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2</a:t>
            </a:r>
            <a:endParaRPr lang="en-US" sz="168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31089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Scoring is fixed heuristics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38404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“Weak area” detection is bucket counts over past answers, nothing adaptive or generative.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0" y="2103120"/>
            <a:ext cx="33375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2377440"/>
            <a:ext cx="548640" cy="548640"/>
          </a:xfrm>
          <a:prstGeom prst="ellipse">
            <a:avLst/>
          </a:prstGeom>
          <a:solidFill>
            <a:srgbClr val="F2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3</a:t>
            </a:r>
            <a:endParaRPr lang="en-US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31089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Every mistake says just “incorrect”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38404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Zero natural-language feedback anywhere in the certification flow.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Altasreef AI Tutor  —  Islamic AI Challenge 2026, Track 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Grounded Explanations — Retrieval, Not Generation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Every wrong answer is matched to a pre-authored rule template by exact key — never generated by a model.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3375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331720"/>
            <a:ext cx="640080" cy="640080"/>
          </a:xfrm>
          <a:prstGeom prst="ellipse">
            <a:avLst/>
          </a:prstGeom>
          <a:solidFill>
            <a:srgbClr val="1B218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973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</a:t>
            </a:r>
            <a:endParaRPr lang="en-US" sz="196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Wrong Answer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490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The dimension, the student's value, and the correct value — plus the real word/root/verse.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32004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615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160520" y="2057400"/>
            <a:ext cx="33375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09260" y="2331720"/>
            <a:ext cx="640080" cy="640080"/>
          </a:xfrm>
          <a:prstGeom prst="ellipse">
            <a:avLst/>
          </a:prstGeom>
          <a:solidFill>
            <a:srgbClr val="1B218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092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2</a:t>
            </a:r>
            <a:endParaRPr lang="en-US" sz="196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31546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Exact Rule Lookup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37490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 deterministic match against 43 pre-authored templates spanning 12 grammar dimensions.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32004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615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772400" y="2057400"/>
            <a:ext cx="33375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21140" y="2331720"/>
            <a:ext cx="640080" cy="640080"/>
          </a:xfrm>
          <a:prstGeom prst="ellipse">
            <a:avLst/>
          </a:prstGeom>
          <a:solidFill>
            <a:srgbClr val="2CEF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211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3</a:t>
            </a:r>
            <a:endParaRPr lang="en-US" sz="196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31546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Explanation or Honest Abstain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001000" y="37490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 match fills in the specific word/verse and renders in EN/AR/UR. No match → says so, plainly.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394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615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No LLM ever generates the explanation text — zero hallucination surface, by construction.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Altasreef AI Tutor  —  Islamic AI Challenge 2026, Track 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We Tested Generation First — And Rejected It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Pilot benchmark: a live LLM's raw conjugation output for one root (140 forms) vs. our verified, rule-based gold-standard data.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615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45%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exact match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0" y="201168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11480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615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53.6%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3108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ignoring diacritics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80960" y="201168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68096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615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50.7%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3108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English translation accuracy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0515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48056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 trust bar that low is unacceptable for Islamic educational content. So the shipped explanation layer never generates grammar — it only ever returns text a human wrote and reviewed in advance, selected by exact key match.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Altasreef AI Tutor  —  Islamic AI Challenge 2026, Track 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Three Built Features, One Public Repo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All built and deployed during the Oct 4–6 window — github.com/haqnawaz99/islamicaich-altasreef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37560" cy="39319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1B218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/explain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2788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43 rules across all 12 tested grammar dimensions, in English/Arabic/Urdu — prioritized by real production frequency, pulled live from 5,215 real student answers.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60520" y="1920240"/>
            <a:ext cx="3337560" cy="39319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2194560"/>
            <a:ext cx="502920" cy="502920"/>
          </a:xfrm>
          <a:prstGeom prst="ellipse">
            <a:avLst/>
          </a:prstGeom>
          <a:solidFill>
            <a:srgbClr val="EA61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2</a:t>
            </a:r>
            <a:endParaRPr lang="en-US" sz="154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834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/ilal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3337560"/>
            <a:ext cx="2788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Full گردان (conjugation table) + step-by-step تعلیل derivation chain, root-generic — verified against قول/قوم/كون — in all 3 languages.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0" y="1920240"/>
            <a:ext cx="3337560" cy="39319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2194560"/>
            <a:ext cx="502920" cy="502920"/>
          </a:xfrm>
          <a:prstGeom prst="ellipse">
            <a:avLst/>
          </a:prstGeom>
          <a:solidFill>
            <a:srgbClr val="2CEF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2834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Surah 114 Viewer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3337560"/>
            <a:ext cx="2788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Every word, every ayah, fully tagged (root, case, i'rab) — real data, dual-script (Uthmani/IndoPak) display, merged into one interactive page.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Altasreef AI Tutor  —  Islamic AI Challenge 2026, Track 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Why This Is a Learning Journey, Not Just a Feature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Track 3: Interactive Experiences &amp; Learning Journeys for Islam — التجارب التفاعلية والرحلة المعرفية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615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 wrong answer becomes a journey, not a dead end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Tap “why” on a mistake → see the grammar rule → open its full تعلیل derivation → explore the real verse it came from. Four real learning surfaces from one tap, not a static correction.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4297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615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Originality is the restraint, not the novelty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463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Most AI-tutor pitches reach for live generation by default. The original move here was testing it, measuring it (45% exact match), and choosing deterministic retrieval instead — a harder, less flashy, more trustworthy design decision.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0" y="20116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21945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615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Grounded in the learner's own real mistakes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7432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Every rule exists because a real student made that exact error in production — not a hypothetical FAQ list.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17920" y="4297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615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One coherent system, not three bolted-on demos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48463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Explanation, derivation, and verse exploration share one data model and one language toggle — designed together, not stitched together.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Altasreef AI Tutor  —  Islamic AI Challenge 2026, Track 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Reliability &amp; Scientific Safety Plan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خطة الموثوقية والسلامة العلمية — mapped directly onto the organizer's own scientific reference package.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92808"/>
            <a:ext cx="365760" cy="365760"/>
          </a:xfrm>
          <a:prstGeom prst="ellipse">
            <a:avLst/>
          </a:prstGeom>
          <a:solidFill>
            <a:srgbClr val="F2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CEF2C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✓</a:t>
            </a:r>
            <a:endParaRPr lang="en-US" sz="112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745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مقاومة الهلوسة — Hallucination resistance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17627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No code path can generate explanation text. An unmatched case returns an explicit abstain, never a guess.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365760" cy="365760"/>
          </a:xfrm>
          <a:prstGeom prst="ellipse">
            <a:avLst/>
          </a:prstGeom>
          <a:solidFill>
            <a:srgbClr val="F2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CEF2C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✓</a:t>
            </a:r>
            <a:endParaRPr lang="en-US" sz="112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77063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قطعي / اجتهادي — Tier A / Tier B split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0723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Every rule is Tier A only: a plain fact derivable from the word's own spelling, root, or the literal verse text.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365760" cy="365760"/>
          </a:xfrm>
          <a:prstGeom prst="ellipse">
            <a:avLst/>
          </a:prstGeom>
          <a:solidFill>
            <a:srgbClr val="F2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CEF2C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✓</a:t>
            </a:r>
            <a:endParaRPr lang="en-US" sz="112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66674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الشفافية — Transparency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6849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Every response shows its exact rule_id. The single most common “wrong answer” in production is a real scoring ambiguity — disclosed as a known system limitation, not defended as a student error.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81144"/>
            <a:ext cx="365760" cy="365760"/>
          </a:xfrm>
          <a:prstGeom prst="ellipse">
            <a:avLst/>
          </a:prstGeom>
          <a:solidFill>
            <a:srgbClr val="F2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CEF2C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✓</a:t>
            </a:r>
            <a:endParaRPr lang="en-US" sz="112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6285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Reliability / attribution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8646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Rule priority is not guessed — it's ranked by real frequency, pulled live from 5,215 production answers before a single rule was written.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365760" cy="365760"/>
          </a:xfrm>
          <a:prstGeom prst="ellipse">
            <a:avLst/>
          </a:prstGeom>
          <a:solidFill>
            <a:srgbClr val="F2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CEF2C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✓</a:t>
            </a:r>
            <a:endParaRPr lang="en-US" sz="112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545896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Human review gate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7607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All 43 rules are flagged for review by the project's own Sarf instructor (9 years teaching علم الصرف) before being treated as final — confirmed complete.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Altasreef AI Tutor  —  Islamic AI Challenge 2026, Track 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Live, Judge-Testable — No Login Required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615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islamicaich-altasreef.netlify.app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EF2C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Static demo page, deployed on Netlify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37490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EF2C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41605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FastAPI, deployed on Render (free tier)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7490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EF2C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Source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41605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github.com/haqnawaz99/islamicaich-altasreef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20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F4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Note: the free Render tier spins down when idle — the very first request after inactivity can take 30–60s to wake up. Normal, not a bug.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Altasreef AI Tutor  —  Islamic AI Challenge 2026, Track 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October 4–6 — Built, Tested, Deployed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337560" cy="4480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1B218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</a:t>
            </a:r>
            <a:endParaRPr lang="en-US" sz="154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615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Day 1 — Oct 4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788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Pulled real production wrong-answer frequency (5,215 answers). Authored the first rule set, built the retrieval matcher and /explain endpoint, stood up the first demo page.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1463040"/>
            <a:ext cx="3337560" cy="4480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1737360"/>
            <a:ext cx="502920" cy="502920"/>
          </a:xfrm>
          <a:prstGeom prst="ellipse">
            <a:avLst/>
          </a:prstGeom>
          <a:solidFill>
            <a:srgbClr val="1B218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348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2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3774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615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Day 2 — Oct 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880360"/>
            <a:ext cx="2788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Expanded to all 12 dimensions (43 rules). Built /ilal (full گردان + تعلیل chain) and the Surah 114 verse viewer. Merged all three into one trilingual, dual-script page.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463040"/>
            <a:ext cx="3337560" cy="4480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18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737360"/>
            <a:ext cx="502920" cy="502920"/>
          </a:xfrm>
          <a:prstGeom prst="ellipse">
            <a:avLst/>
          </a:prstGeom>
          <a:solidFill>
            <a:srgbClr val="1B218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3</a:t>
            </a:r>
            <a:endParaRPr lang="en-US" sz="154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23774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615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Day 3 — Oct 6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2880360"/>
            <a:ext cx="2788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Fixed language-toggle and font bugs across every module, deployed backend (Render) and frontend (Netlify), end-to-end live verification, reliability/sustainability docs, submission packaging.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Altasreef AI Tutor  —  Islamic AI Challenge 2026, Track 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Operating &amp; Sustainability Plan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واقعية التشغيل والاستكمال — this extends a live, actively-maintained platform, not a hackathon prototype with nowhere to live.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38528"/>
            <a:ext cx="411480" cy="411480"/>
          </a:xfrm>
          <a:prstGeom prst="ellipse">
            <a:avLst/>
          </a:prstGeom>
          <a:solidFill>
            <a:srgbClr val="F2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38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•</a:t>
            </a:r>
            <a:endParaRPr lang="en-US" sz="126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20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Merges into production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2860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Reviewed rules move into the real Altasreef backend, reusing its existing auth/rate-limit conventions — not a parallel system to maintain.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411480" cy="411480"/>
          </a:xfrm>
          <a:prstGeom prst="ellipse">
            <a:avLst/>
          </a:prstGeom>
          <a:solidFill>
            <a:srgbClr val="F2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90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•</a:t>
            </a:r>
            <a:endParaRPr lang="en-US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9718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Zero ongoing LLM cost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Retrieval-only means no per-explanation inference bill to budget for as usage grows.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41648"/>
            <a:ext cx="411480" cy="411480"/>
          </a:xfrm>
          <a:prstGeom prst="ellipse">
            <a:avLst/>
          </a:prstGeom>
          <a:solidFill>
            <a:srgbClr val="F2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41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•</a:t>
            </a:r>
            <a:endParaRPr lang="en-US" sz="126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023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Incremental growth, not a rewrite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3891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The same production export used to prioritize the first 43 rules can be re-run anytime to find the next highest-impact gap.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093208"/>
            <a:ext cx="411480" cy="411480"/>
          </a:xfrm>
          <a:prstGeom prst="ellipse">
            <a:avLst/>
          </a:prstGeom>
          <a:solidFill>
            <a:srgbClr val="F2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93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•</a:t>
            </a:r>
            <a:endParaRPr lang="en-US" sz="126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074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83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No new infrastructure required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4406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The production merge target already has hosting, monitoring, and CI/CD in place.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Altasreef AI Tutor  —  Islamic AI Challenge 2026, Track 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Haqnawaz/Quran/Programming/morphology_app/assets/icon/icon_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554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Team Altasreef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548640" y="25603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2A2FA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Haq Nawaz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Technical Lead — NLP/AI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83280" y="25603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2A2FA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2044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Muhammad Wajih Uz Zaman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5204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Backend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25603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2A2FA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35508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Kashif Sohail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DevOps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052560" y="25603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2A2FA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8972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Hafiz Muhammad Haris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18972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389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615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074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EF2C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Live demo: islamicaich-altasreef.netlify.app   •   Repo: github.com/haqnawaz99/islamicaich-altasreef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4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Altasreef AI Tutor  —  Islamic AI Challenge 2026, Track 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tasreef">
  <a:themeElements>
    <a:clrScheme name="Altasreef">
      <a:dk1>
        <a:srgbClr val="1A1A2E"/>
      </a:dk1>
      <a:lt1>
        <a:srgbClr val="FFFFFF"/>
      </a:lt1>
      <a:dk2>
        <a:srgbClr val="1B2183"/>
      </a:dk2>
      <a:lt2>
        <a:srgbClr val="F2F4FF"/>
      </a:lt2>
      <a:accent1>
        <a:srgbClr val="1B2183"/>
      </a:accent1>
      <a:accent2>
        <a:srgbClr val="EA6150"/>
      </a:accent2>
      <a:accent3>
        <a:srgbClr val="2CEF2C"/>
      </a:accent3>
      <a:accent4>
        <a:srgbClr val="5B5F7A"/>
      </a:accent4>
      <a:accent5>
        <a:srgbClr val="1B2183"/>
      </a:accent5>
      <a:accent6>
        <a:srgbClr val="EA6150"/>
      </a:accent6>
      <a:hlink>
        <a:srgbClr val="EA6150"/>
      </a:hlink>
      <a:folHlink>
        <a:srgbClr val="1B2183"/>
      </a:folHlink>
    </a:clrScheme>
    <a:fontScheme name="Altasreef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2026-10-06T16:10:34Z</dcterms:created>
  <dcterms:modified xsi:type="dcterms:W3CDTF">2026-10-06T16:10:34Z</dcterms:modified>
</cp:coreProperties>
</file>